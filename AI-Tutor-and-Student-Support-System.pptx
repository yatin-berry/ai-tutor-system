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4630400" cy="8229600"/>
  <p:notesSz cx="8229600" cy="14630400"/>
  <p:embeddedFontLst>
    <p:embeddedFont>
      <p:font typeface="Barlow" panose="000005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A235B0-5181-4A44-ACA5-526161804B83}" v="8" dt="2026-04-23T03:32:12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tin Berry" userId="617b432cc2192d1f" providerId="LiveId" clId="{6F5735E5-A8E6-4C84-A681-9D911D6A46DC}"/>
    <pc:docChg chg="undo custSel delSld modSld">
      <pc:chgData name="Yatin Berry" userId="617b432cc2192d1f" providerId="LiveId" clId="{6F5735E5-A8E6-4C84-A681-9D911D6A46DC}" dt="2026-04-23T03:48:33.960" v="138" actId="1076"/>
      <pc:docMkLst>
        <pc:docMk/>
      </pc:docMkLst>
      <pc:sldChg chg="modSp mod">
        <pc:chgData name="Yatin Berry" userId="617b432cc2192d1f" providerId="LiveId" clId="{6F5735E5-A8E6-4C84-A681-9D911D6A46DC}" dt="2026-04-20T17:22:50.693" v="64" actId="1036"/>
        <pc:sldMkLst>
          <pc:docMk/>
          <pc:sldMk cId="0" sldId="256"/>
        </pc:sldMkLst>
        <pc:spChg chg="mod">
          <ac:chgData name="Yatin Berry" userId="617b432cc2192d1f" providerId="LiveId" clId="{6F5735E5-A8E6-4C84-A681-9D911D6A46DC}" dt="2026-04-20T17:22:50.693" v="64" actId="1036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">
        <pc:chgData name="Yatin Berry" userId="617b432cc2192d1f" providerId="LiveId" clId="{6F5735E5-A8E6-4C84-A681-9D911D6A46DC}" dt="2026-04-23T03:48:33.960" v="138" actId="1076"/>
        <pc:sldMkLst>
          <pc:docMk/>
          <pc:sldMk cId="0" sldId="257"/>
        </pc:sldMkLst>
        <pc:spChg chg="mod">
          <ac:chgData name="Yatin Berry" userId="617b432cc2192d1f" providerId="LiveId" clId="{6F5735E5-A8E6-4C84-A681-9D911D6A46DC}" dt="2026-04-23T03:48:26.995" v="135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Yatin Berry" userId="617b432cc2192d1f" providerId="LiveId" clId="{6F5735E5-A8E6-4C84-A681-9D911D6A46DC}" dt="2026-04-23T03:48:26.995" v="135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Yatin Berry" userId="617b432cc2192d1f" providerId="LiveId" clId="{6F5735E5-A8E6-4C84-A681-9D911D6A46DC}" dt="2026-04-23T03:48:26.995" v="135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Yatin Berry" userId="617b432cc2192d1f" providerId="LiveId" clId="{6F5735E5-A8E6-4C84-A681-9D911D6A46DC}" dt="2026-04-23T03:48:26.995" v="135" actId="1076"/>
          <ac:spMkLst>
            <pc:docMk/>
            <pc:sldMk cId="0" sldId="257"/>
            <ac:spMk id="10" creationId="{00000000-0000-0000-0000-000000000000}"/>
          </ac:spMkLst>
        </pc:spChg>
        <pc:picChg chg="del">
          <ac:chgData name="Yatin Berry" userId="617b432cc2192d1f" providerId="LiveId" clId="{6F5735E5-A8E6-4C84-A681-9D911D6A46DC}" dt="2026-04-23T03:47:42.841" v="126" actId="478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Yatin Berry" userId="617b432cc2192d1f" providerId="LiveId" clId="{6F5735E5-A8E6-4C84-A681-9D911D6A46DC}" dt="2026-04-23T03:48:33.960" v="138" actId="1076"/>
          <ac:picMkLst>
            <pc:docMk/>
            <pc:sldMk cId="0" sldId="257"/>
            <ac:picMk id="12" creationId="{12800A82-E6EE-7272-1E40-44F436FE823A}"/>
          </ac:picMkLst>
        </pc:picChg>
      </pc:sldChg>
      <pc:sldChg chg="addSp delSp modSp mod">
        <pc:chgData name="Yatin Berry" userId="617b432cc2192d1f" providerId="LiveId" clId="{6F5735E5-A8E6-4C84-A681-9D911D6A46DC}" dt="2026-04-23T01:51:20.935" v="109"/>
        <pc:sldMkLst>
          <pc:docMk/>
          <pc:sldMk cId="0" sldId="259"/>
        </pc:sldMkLst>
        <pc:spChg chg="mod">
          <ac:chgData name="Yatin Berry" userId="617b432cc2192d1f" providerId="LiveId" clId="{6F5735E5-A8E6-4C84-A681-9D911D6A46DC}" dt="2026-04-23T01:43:49.533" v="72" actId="20577"/>
          <ac:spMkLst>
            <pc:docMk/>
            <pc:sldMk cId="0" sldId="259"/>
            <ac:spMk id="7" creationId="{00000000-0000-0000-0000-000000000000}"/>
          </ac:spMkLst>
        </pc:spChg>
        <pc:picChg chg="add del mod">
          <ac:chgData name="Yatin Berry" userId="617b432cc2192d1f" providerId="LiveId" clId="{6F5735E5-A8E6-4C84-A681-9D911D6A46DC}" dt="2026-04-23T01:44:00.760" v="73" actId="478"/>
          <ac:picMkLst>
            <pc:docMk/>
            <pc:sldMk cId="0" sldId="259"/>
            <ac:picMk id="4" creationId="{749022A0-9F15-8226-DED5-4EF70A2C403F}"/>
          </ac:picMkLst>
        </pc:picChg>
        <pc:picChg chg="add mod">
          <ac:chgData name="Yatin Berry" userId="617b432cc2192d1f" providerId="LiveId" clId="{6F5735E5-A8E6-4C84-A681-9D911D6A46DC}" dt="2026-04-23T01:51:20.935" v="109"/>
          <ac:picMkLst>
            <pc:docMk/>
            <pc:sldMk cId="0" sldId="259"/>
            <ac:picMk id="29" creationId="{0E1C1762-891B-3533-B8DB-C07E14B55D1A}"/>
          </ac:picMkLst>
        </pc:picChg>
      </pc:sldChg>
      <pc:sldChg chg="addSp delSp modSp mod">
        <pc:chgData name="Yatin Berry" userId="617b432cc2192d1f" providerId="LiveId" clId="{6F5735E5-A8E6-4C84-A681-9D911D6A46DC}" dt="2026-04-23T01:51:06.853" v="104" actId="21"/>
        <pc:sldMkLst>
          <pc:docMk/>
          <pc:sldMk cId="0" sldId="260"/>
        </pc:sldMkLst>
        <pc:picChg chg="add del mod">
          <ac:chgData name="Yatin Berry" userId="617b432cc2192d1f" providerId="LiveId" clId="{6F5735E5-A8E6-4C84-A681-9D911D6A46DC}" dt="2026-04-23T01:51:06.853" v="104" actId="21"/>
          <ac:picMkLst>
            <pc:docMk/>
            <pc:sldMk cId="0" sldId="260"/>
            <ac:picMk id="29" creationId="{0E1C1762-891B-3533-B8DB-C07E14B55D1A}"/>
          </ac:picMkLst>
        </pc:picChg>
      </pc:sldChg>
      <pc:sldChg chg="addSp delSp modSp mod">
        <pc:chgData name="Yatin Berry" userId="617b432cc2192d1f" providerId="LiveId" clId="{6F5735E5-A8E6-4C84-A681-9D911D6A46DC}" dt="2026-04-23T01:49:35.213" v="93" actId="478"/>
        <pc:sldMkLst>
          <pc:docMk/>
          <pc:sldMk cId="0" sldId="261"/>
        </pc:sldMkLst>
        <pc:picChg chg="add del mod">
          <ac:chgData name="Yatin Berry" userId="617b432cc2192d1f" providerId="LiveId" clId="{6F5735E5-A8E6-4C84-A681-9D911D6A46DC}" dt="2026-04-23T01:49:34.552" v="92" actId="478"/>
          <ac:picMkLst>
            <pc:docMk/>
            <pc:sldMk cId="0" sldId="261"/>
            <ac:picMk id="5" creationId="{1610DA60-B170-BD66-4376-5E26253A8942}"/>
          </ac:picMkLst>
        </pc:picChg>
        <pc:picChg chg="add del mod">
          <ac:chgData name="Yatin Berry" userId="617b432cc2192d1f" providerId="LiveId" clId="{6F5735E5-A8E6-4C84-A681-9D911D6A46DC}" dt="2026-04-23T01:49:35.213" v="93" actId="478"/>
          <ac:picMkLst>
            <pc:docMk/>
            <pc:sldMk cId="0" sldId="261"/>
            <ac:picMk id="7" creationId="{055DBC2B-3DD2-40D2-C383-455D830C4EA7}"/>
          </ac:picMkLst>
        </pc:picChg>
      </pc:sldChg>
      <pc:sldChg chg="addSp delSp modSp del mod">
        <pc:chgData name="Yatin Berry" userId="617b432cc2192d1f" providerId="LiveId" clId="{6F5735E5-A8E6-4C84-A681-9D911D6A46DC}" dt="2026-04-23T03:47:31.717" v="125" actId="47"/>
        <pc:sldMkLst>
          <pc:docMk/>
          <pc:sldMk cId="0" sldId="262"/>
        </pc:sldMkLst>
        <pc:spChg chg="add del">
          <ac:chgData name="Yatin Berry" userId="617b432cc2192d1f" providerId="LiveId" clId="{6F5735E5-A8E6-4C84-A681-9D911D6A46DC}" dt="2026-04-23T03:32:12.204" v="124" actId="478"/>
          <ac:spMkLst>
            <pc:docMk/>
            <pc:sldMk cId="0" sldId="262"/>
            <ac:spMk id="20" creationId="{F9124A94-551F-0851-CA72-732F2119F895}"/>
          </ac:spMkLst>
        </pc:spChg>
        <pc:picChg chg="add del mod">
          <ac:chgData name="Yatin Berry" userId="617b432cc2192d1f" providerId="LiveId" clId="{6F5735E5-A8E6-4C84-A681-9D911D6A46DC}" dt="2026-04-23T03:24:08.645" v="122" actId="478"/>
          <ac:picMkLst>
            <pc:docMk/>
            <pc:sldMk cId="0" sldId="262"/>
            <ac:picMk id="17" creationId="{27F5E97E-D37A-B75A-7F51-1AE07993CBA0}"/>
          </ac:picMkLst>
        </pc:picChg>
        <pc:picChg chg="add del mod">
          <ac:chgData name="Yatin Berry" userId="617b432cc2192d1f" providerId="LiveId" clId="{6F5735E5-A8E6-4C84-A681-9D911D6A46DC}" dt="2026-04-23T01:49:54.235" v="101" actId="478"/>
          <ac:picMkLst>
            <pc:docMk/>
            <pc:sldMk cId="0" sldId="262"/>
            <ac:picMk id="23" creationId="{74BDB261-2E06-A883-14B9-CAEB67A90528}"/>
          </ac:picMkLst>
        </pc:picChg>
      </pc:sldChg>
      <pc:sldChg chg="addSp delSp modSp mod">
        <pc:chgData name="Yatin Berry" userId="617b432cc2192d1f" providerId="LiveId" clId="{6F5735E5-A8E6-4C84-A681-9D911D6A46DC}" dt="2026-04-23T03:22:47.196" v="119" actId="1076"/>
        <pc:sldMkLst>
          <pc:docMk/>
          <pc:sldMk cId="0" sldId="263"/>
        </pc:sldMkLst>
        <pc:spChg chg="mod">
          <ac:chgData name="Yatin Berry" userId="617b432cc2192d1f" providerId="LiveId" clId="{6F5735E5-A8E6-4C84-A681-9D911D6A46DC}" dt="2026-04-20T11:22:50.218" v="28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Yatin Berry" userId="617b432cc2192d1f" providerId="LiveId" clId="{6F5735E5-A8E6-4C84-A681-9D911D6A46DC}" dt="2026-04-20T11:22:40.324" v="27" actId="20577"/>
          <ac:spMkLst>
            <pc:docMk/>
            <pc:sldMk cId="0" sldId="263"/>
            <ac:spMk id="8" creationId="{00000000-0000-0000-0000-000000000000}"/>
          </ac:spMkLst>
        </pc:spChg>
        <pc:picChg chg="add del mod modCrop">
          <ac:chgData name="Yatin Berry" userId="617b432cc2192d1f" providerId="LiveId" clId="{6F5735E5-A8E6-4C84-A681-9D911D6A46DC}" dt="2026-04-23T01:49:52.002" v="100" actId="478"/>
          <ac:picMkLst>
            <pc:docMk/>
            <pc:sldMk cId="0" sldId="263"/>
            <ac:picMk id="13" creationId="{2E3834FE-5836-C404-37F2-BD13B8BF3BD3}"/>
          </ac:picMkLst>
        </pc:picChg>
        <pc:picChg chg="add mod">
          <ac:chgData name="Yatin Berry" userId="617b432cc2192d1f" providerId="LiveId" clId="{6F5735E5-A8E6-4C84-A681-9D911D6A46DC}" dt="2026-04-23T03:22:04.085" v="112" actId="1076"/>
          <ac:picMkLst>
            <pc:docMk/>
            <pc:sldMk cId="0" sldId="263"/>
            <ac:picMk id="14" creationId="{28A307C8-9261-3CD1-6292-60F0677FC354}"/>
          </ac:picMkLst>
        </pc:picChg>
        <pc:picChg chg="add del mod modCrop">
          <ac:chgData name="Yatin Berry" userId="617b432cc2192d1f" providerId="LiveId" clId="{6F5735E5-A8E6-4C84-A681-9D911D6A46DC}" dt="2026-04-23T01:49:50.267" v="99" actId="478"/>
          <ac:picMkLst>
            <pc:docMk/>
            <pc:sldMk cId="0" sldId="263"/>
            <ac:picMk id="15" creationId="{D660AFFC-D607-113C-F7CD-C6C2FF5263BE}"/>
          </ac:picMkLst>
        </pc:picChg>
        <pc:picChg chg="add mod">
          <ac:chgData name="Yatin Berry" userId="617b432cc2192d1f" providerId="LiveId" clId="{6F5735E5-A8E6-4C84-A681-9D911D6A46DC}" dt="2026-04-23T03:22:47.196" v="119" actId="1076"/>
          <ac:picMkLst>
            <pc:docMk/>
            <pc:sldMk cId="0" sldId="263"/>
            <ac:picMk id="17" creationId="{A04C0106-9BDC-454E-B010-F4DFA9FE9C09}"/>
          </ac:picMkLst>
        </pc:picChg>
      </pc:sldChg>
      <pc:sldChg chg="modSp mod">
        <pc:chgData name="Yatin Berry" userId="617b432cc2192d1f" providerId="LiveId" clId="{6F5735E5-A8E6-4C84-A681-9D911D6A46DC}" dt="2026-04-23T01:49:43.193" v="98" actId="20577"/>
        <pc:sldMkLst>
          <pc:docMk/>
          <pc:sldMk cId="0" sldId="264"/>
        </pc:sldMkLst>
        <pc:spChg chg="mod">
          <ac:chgData name="Yatin Berry" userId="617b432cc2192d1f" providerId="LiveId" clId="{6F5735E5-A8E6-4C84-A681-9D911D6A46DC}" dt="2026-04-23T01:49:43.193" v="98" actId="20577"/>
          <ac:spMkLst>
            <pc:docMk/>
            <pc:sldMk cId="0" sldId="264"/>
            <ac:spMk id="7" creationId="{00000000-0000-0000-0000-000000000000}"/>
          </ac:spMkLst>
        </pc:spChg>
      </pc:sldChg>
      <pc:sldChg chg="addSp delSp modSp mod">
        <pc:chgData name="Yatin Berry" userId="617b432cc2192d1f" providerId="LiveId" clId="{6F5735E5-A8E6-4C84-A681-9D911D6A46DC}" dt="2026-04-20T12:22:57.570" v="43" actId="1076"/>
        <pc:sldMkLst>
          <pc:docMk/>
          <pc:sldMk cId="2692897314" sldId="267"/>
        </pc:sldMkLst>
        <pc:spChg chg="add del mod">
          <ac:chgData name="Yatin Berry" userId="617b432cc2192d1f" providerId="LiveId" clId="{6F5735E5-A8E6-4C84-A681-9D911D6A46DC}" dt="2026-04-20T12:22:57.570" v="43" actId="1076"/>
          <ac:spMkLst>
            <pc:docMk/>
            <pc:sldMk cId="2692897314" sldId="267"/>
            <ac:spMk id="3" creationId="{9D54256F-EACD-A4D4-3303-2D659552C4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39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455069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Tutor &amp; Student Support System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4208528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 AI-powered learning and interview preparation system designed for personalised education at scale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9501" y="996434"/>
            <a:ext cx="4886325" cy="61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AI in Education?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413631" y="2170900"/>
            <a:ext cx="2443163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Challenge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13631" y="2672034"/>
            <a:ext cx="3534251" cy="2327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Traditional education systems deliver the same content to every student, regardless of their pace, strengths, or gaps. There is no real-time feedback, no personalised evaluation, and no structured preparation for real-world interviews.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69501" y="6170294"/>
            <a:ext cx="7612618" cy="945284"/>
          </a:xfrm>
          <a:prstGeom prst="roundRect">
            <a:avLst>
              <a:gd name="adj" fmla="val 17667"/>
            </a:avLst>
          </a:prstGeom>
          <a:solidFill>
            <a:srgbClr val="4B3F0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290" y="6359762"/>
            <a:ext cx="274796" cy="2197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3981" y="6300857"/>
            <a:ext cx="6898243" cy="814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Students graduate without knowing where they truly stand — academically or professionally.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491998" y="2170900"/>
            <a:ext cx="2443163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Opportunity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491998" y="2672034"/>
            <a:ext cx="3534251" cy="2865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can diagnose individual weaknesses instantly</a:t>
            </a:r>
            <a:endParaRPr lang="en-US" sz="17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Automated evaluation removes subjectivity and delay</a:t>
            </a:r>
            <a:endParaRPr lang="en-US" sz="17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Personalised paths accelerate genuine learning</a:t>
            </a:r>
            <a:endParaRPr lang="en-US" sz="17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Interview simulation builds real-world confidence</a:t>
            </a:r>
            <a:endParaRPr lang="en-US" sz="17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800A82-E6EE-7272-1E40-44F436FE8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2725" y="2059306"/>
            <a:ext cx="6294044" cy="33990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811887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Objectives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037" y="1991439"/>
            <a:ext cx="617220" cy="617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9867" y="1991439"/>
            <a:ext cx="292036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Smart Quiz Generation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789867" y="2482453"/>
            <a:ext cx="3169206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Dynamically generate subject-specific MCQs and open-ended questions tailored to the student's level.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7682" y="1991439"/>
            <a:ext cx="617220" cy="617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3512" y="199143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AI-Based Evaluation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6193512" y="2482453"/>
            <a:ext cx="3169206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Automatically score and analyse student responses using rule-based logic combined with large language models.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1328" y="1991439"/>
            <a:ext cx="617220" cy="6172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97158" y="199143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Weakness Detection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0597158" y="2482453"/>
            <a:ext cx="3169206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Identify topic-level gaps from quiz performance and highlight areas requiring focused revision.</a:t>
            </a:r>
            <a:endParaRPr lang="en-US" sz="1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4037" y="4951452"/>
            <a:ext cx="617220" cy="6172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89867" y="4951452"/>
            <a:ext cx="283285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Interview Preparation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1789867" y="5442466"/>
            <a:ext cx="3169206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Simulate role-based technical interviews with real-time AI feedback and a consolidated performance summary.</a:t>
            </a:r>
            <a:endParaRPr lang="en-US" sz="1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7682" y="4951452"/>
            <a:ext cx="617220" cy="6172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93512" y="4951452"/>
            <a:ext cx="296691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Performance Analytics</a:t>
            </a:r>
            <a:endParaRPr lang="en-US" sz="2150" dirty="0"/>
          </a:p>
        </p:txBody>
      </p:sp>
      <p:sp>
        <p:nvSpPr>
          <p:cNvPr id="17" name="Text 10"/>
          <p:cNvSpPr/>
          <p:nvPr/>
        </p:nvSpPr>
        <p:spPr>
          <a:xfrm>
            <a:off x="6193512" y="5442466"/>
            <a:ext cx="3169206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Track progress across subjects and roles with rich visual dashboards and trend charts.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3598" y="577096"/>
            <a:ext cx="645033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System Architecture Overview</a:t>
            </a:r>
            <a:endParaRPr lang="en-US" sz="3500" dirty="0"/>
          </a:p>
        </p:txBody>
      </p:sp>
      <p:sp>
        <p:nvSpPr>
          <p:cNvPr id="5" name="Text 1"/>
          <p:cNvSpPr/>
          <p:nvPr/>
        </p:nvSpPr>
        <p:spPr>
          <a:xfrm>
            <a:off x="7567493" y="2722959"/>
            <a:ext cx="22288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Technologies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7567493" y="3184922"/>
            <a:ext cx="2872026" cy="1469946"/>
          </a:xfrm>
          <a:prstGeom prst="roundRect">
            <a:avLst>
              <a:gd name="adj" fmla="val 20470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90855" y="3408283"/>
            <a:ext cx="22288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React</a:t>
            </a:r>
          </a:p>
          <a:p>
            <a:pPr marL="0" indent="0" algn="l">
              <a:lnSpc>
                <a:spcPts val="2150"/>
              </a:lnSpc>
              <a:buNone/>
            </a:pP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790855" y="3849767"/>
            <a:ext cx="2425303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Interactive frontend UI with minimal setup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10602397" y="3184922"/>
            <a:ext cx="2872026" cy="1469946"/>
          </a:xfrm>
          <a:prstGeom prst="roundRect">
            <a:avLst>
              <a:gd name="adj" fmla="val 20470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825758" y="3408283"/>
            <a:ext cx="22288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FastAPI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825758" y="3849767"/>
            <a:ext cx="2425303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High-performance Python backend REST API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7567493" y="4817745"/>
            <a:ext cx="2872026" cy="1469946"/>
          </a:xfrm>
          <a:prstGeom prst="roundRect">
            <a:avLst>
              <a:gd name="adj" fmla="val 20470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90855" y="5041106"/>
            <a:ext cx="22288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OpenRouter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790855" y="5482590"/>
            <a:ext cx="2425303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model access via DeepSeek LLM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10602397" y="4817745"/>
            <a:ext cx="2872026" cy="1469946"/>
          </a:xfrm>
          <a:prstGeom prst="roundRect">
            <a:avLst>
              <a:gd name="adj" fmla="val 20470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09123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825758" y="5041106"/>
            <a:ext cx="22288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Supabase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10825758" y="5482590"/>
            <a:ext cx="2425303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Scalable PostgreSQL cloud database</a:t>
            </a:r>
            <a:endParaRPr lang="en-US" sz="15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E1C1762-891B-3533-B8DB-C07E14B55D1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4653" y="2583299"/>
            <a:ext cx="6669478" cy="39829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009" y="737473"/>
            <a:ext cx="6326743" cy="66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 Features at a Glance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837009" y="1865233"/>
            <a:ext cx="4164330" cy="2697599"/>
          </a:xfrm>
          <a:prstGeom prst="roundRect">
            <a:avLst>
              <a:gd name="adj" fmla="val 13299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8947" y="2127171"/>
            <a:ext cx="717471" cy="717471"/>
          </a:xfrm>
          <a:prstGeom prst="roundRect">
            <a:avLst>
              <a:gd name="adj" fmla="val 12743492"/>
            </a:avLst>
          </a:prstGeom>
          <a:solidFill>
            <a:srgbClr val="16FFB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6233" y="2324457"/>
            <a:ext cx="322778" cy="3227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8947" y="3076337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Quiz Mode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098947" y="3547467"/>
            <a:ext cx="3640455" cy="753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Subject-wise MCQ + open-ended AI-evaluated quizzes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3035" y="1865233"/>
            <a:ext cx="4164330" cy="2697599"/>
          </a:xfrm>
          <a:prstGeom prst="roundRect">
            <a:avLst>
              <a:gd name="adj" fmla="val 13299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94973" y="2127171"/>
            <a:ext cx="717471" cy="717471"/>
          </a:xfrm>
          <a:prstGeom prst="roundRect">
            <a:avLst>
              <a:gd name="adj" fmla="val 12743492"/>
            </a:avLst>
          </a:prstGeom>
          <a:solidFill>
            <a:srgbClr val="29DDD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2259" y="2324457"/>
            <a:ext cx="322778" cy="3227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94973" y="3076337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Interview Mode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5494973" y="3547467"/>
            <a:ext cx="3640455" cy="753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Role-based technical interview simulation with AI coaching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9629061" y="1865233"/>
            <a:ext cx="4164330" cy="2697599"/>
          </a:xfrm>
          <a:prstGeom prst="roundRect">
            <a:avLst>
              <a:gd name="adj" fmla="val 13299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90998" y="2127171"/>
            <a:ext cx="717471" cy="717471"/>
          </a:xfrm>
          <a:prstGeom prst="roundRect">
            <a:avLst>
              <a:gd name="adj" fmla="val 12743492"/>
            </a:avLst>
          </a:prstGeom>
          <a:solidFill>
            <a:srgbClr val="37A7E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8285" y="2324457"/>
            <a:ext cx="322778" cy="3227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90998" y="3076337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Dashboard Analytics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9890998" y="3547467"/>
            <a:ext cx="3640455" cy="753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Visual breakdown of performance by subject and role</a:t>
            </a:r>
            <a:endParaRPr lang="en-US" sz="1850" dirty="0"/>
          </a:p>
        </p:txBody>
      </p:sp>
      <p:sp>
        <p:nvSpPr>
          <p:cNvPr id="18" name="Shape 13"/>
          <p:cNvSpPr/>
          <p:nvPr/>
        </p:nvSpPr>
        <p:spPr>
          <a:xfrm>
            <a:off x="837009" y="4794528"/>
            <a:ext cx="6362343" cy="2697599"/>
          </a:xfrm>
          <a:prstGeom prst="roundRect">
            <a:avLst>
              <a:gd name="adj" fmla="val 13299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98947" y="5056465"/>
            <a:ext cx="717471" cy="717471"/>
          </a:xfrm>
          <a:prstGeom prst="roundRect">
            <a:avLst>
              <a:gd name="adj" fmla="val 12743492"/>
            </a:avLst>
          </a:prstGeom>
          <a:solidFill>
            <a:srgbClr val="09123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96233" y="5253752"/>
            <a:ext cx="322778" cy="3227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8947" y="6005632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Evaluation</a:t>
            </a:r>
            <a:endParaRPr lang="en-US" sz="2050" dirty="0"/>
          </a:p>
        </p:txBody>
      </p:sp>
      <p:sp>
        <p:nvSpPr>
          <p:cNvPr id="22" name="Text 16"/>
          <p:cNvSpPr/>
          <p:nvPr/>
        </p:nvSpPr>
        <p:spPr>
          <a:xfrm>
            <a:off x="1098947" y="6476762"/>
            <a:ext cx="5838468" cy="753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Hybrid rule-based and LLM scoring with structured feedback</a:t>
            </a:r>
            <a:endParaRPr lang="en-US" sz="1850" dirty="0"/>
          </a:p>
        </p:txBody>
      </p:sp>
      <p:sp>
        <p:nvSpPr>
          <p:cNvPr id="23" name="Shape 17"/>
          <p:cNvSpPr/>
          <p:nvPr/>
        </p:nvSpPr>
        <p:spPr>
          <a:xfrm>
            <a:off x="7431048" y="4794528"/>
            <a:ext cx="6362343" cy="2697599"/>
          </a:xfrm>
          <a:prstGeom prst="roundRect">
            <a:avLst>
              <a:gd name="adj" fmla="val 13299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92985" y="5056465"/>
            <a:ext cx="717471" cy="717471"/>
          </a:xfrm>
          <a:prstGeom prst="roundRect">
            <a:avLst>
              <a:gd name="adj" fmla="val 12743492"/>
            </a:avLst>
          </a:prstGeom>
          <a:solidFill>
            <a:srgbClr val="16FFBB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90272" y="5253752"/>
            <a:ext cx="322778" cy="32277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92985" y="6005632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Weakness Detection</a:t>
            </a:r>
            <a:endParaRPr lang="en-US" sz="2050" dirty="0"/>
          </a:p>
        </p:txBody>
      </p:sp>
      <p:sp>
        <p:nvSpPr>
          <p:cNvPr id="27" name="Text 20"/>
          <p:cNvSpPr/>
          <p:nvPr/>
        </p:nvSpPr>
        <p:spPr>
          <a:xfrm>
            <a:off x="7692985" y="6476762"/>
            <a:ext cx="5838468" cy="753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Pinpoint topic-level gaps and deliver targeted recommendations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687928"/>
            <a:ext cx="867894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Quiz Mode &amp; Interview Mode Flow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2726291" y="777304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Quiz Mode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9542979" y="764167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Interview Mode</a:t>
            </a:r>
            <a:endParaRPr lang="en-US" sz="21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0DA60-B170-BD66-4376-5E26253A894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49815" y="1925607"/>
            <a:ext cx="5586508" cy="5663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5DBC2B-3DD2-40D2-C383-455D830C4EA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20875" y="1925607"/>
            <a:ext cx="4968051" cy="5663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4037" y="1035010"/>
            <a:ext cx="632555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Performance Dashboard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2091095"/>
            <a:ext cx="3584496" cy="3020854"/>
          </a:xfrm>
          <a:prstGeom prst="roundRect">
            <a:avLst>
              <a:gd name="adj" fmla="val 12259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41333" y="236839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Subject-Wise Stats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141333" y="2859405"/>
            <a:ext cx="3029903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View scores, accuracy rates, and weakness flags broken down by topic for every quiz attempted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725829" y="2091095"/>
            <a:ext cx="3584615" cy="3020854"/>
          </a:xfrm>
          <a:prstGeom prst="roundRect">
            <a:avLst>
              <a:gd name="adj" fmla="val 12259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72645" y="236839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Role -Wise Stats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972645" y="2859405"/>
            <a:ext cx="3030022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Track interview performance across different job roles — compare confidence levels and scores over time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4037" y="5358765"/>
            <a:ext cx="7415927" cy="183570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1333" y="563606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Charts &amp; Analytics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141333" y="6127075"/>
            <a:ext cx="686133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Interactive bar charts, trend lines, and radar graphs give students a clear picture of their growth trajectory</a:t>
            </a:r>
            <a:endParaRPr lang="en-US" sz="1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A307C8-9261-3CD1-6292-60F0677FC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124" y="2091095"/>
            <a:ext cx="5184984" cy="17404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4C0106-9BDC-454E-B010-F4DFA9FE9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2198" y="4260677"/>
            <a:ext cx="5390836" cy="29337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07425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Technologies Used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486978"/>
            <a:ext cx="1317308" cy="1317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411289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Python &amp; FastAPI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4603909"/>
            <a:ext cx="2994065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Core backend language with FastAPI for building fast, asynchronous REST APIs with automatic documentation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711" y="2486978"/>
            <a:ext cx="1317427" cy="13174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66711" y="411301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React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4166711" y="4604028"/>
            <a:ext cx="2994184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Rapid, interactive frontend for data-driven applications — no JavaScript required, pure Python UI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505" y="2486978"/>
            <a:ext cx="1317308" cy="13173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69505" y="4112895"/>
            <a:ext cx="29940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OpenRouter + DeepSeek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7469505" y="4946809"/>
            <a:ext cx="2994065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Unified AI API gateway providing access to DeepSeek LLM for question generation and intelligent evaluation</a:t>
            </a:r>
            <a:endParaRPr lang="en-US" sz="1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2180" y="2486978"/>
            <a:ext cx="1317427" cy="131742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72180" y="411301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Supabase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10772180" y="4604028"/>
            <a:ext cx="2994184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Open-source Firebase alternative offering a managed PostgreSQL database with real-time capabilities and REST APIs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5100" y="529352"/>
            <a:ext cx="7491055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Advantages, Limitations &amp; Future Scope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42061" y="1608981"/>
            <a:ext cx="2602944" cy="2051209"/>
          </a:xfrm>
          <a:prstGeom prst="roundRect">
            <a:avLst>
              <a:gd name="adj" fmla="val 5349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9201" y="1608981"/>
            <a:ext cx="91440" cy="2051209"/>
          </a:xfrm>
          <a:prstGeom prst="roundRect">
            <a:avLst>
              <a:gd name="adj" fmla="val 297422"/>
            </a:avLst>
          </a:prstGeom>
          <a:solidFill>
            <a:srgbClr val="16FFBB"/>
          </a:solidFill>
          <a:ln/>
        </p:spPr>
      </p:sp>
      <p:sp>
        <p:nvSpPr>
          <p:cNvPr id="5" name="Text 3"/>
          <p:cNvSpPr/>
          <p:nvPr/>
        </p:nvSpPr>
        <p:spPr>
          <a:xfrm>
            <a:off x="814714" y="1813054"/>
            <a:ext cx="2126218" cy="503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✅</a:t>
            </a: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Personalised Learning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14714" y="2449800"/>
            <a:ext cx="2126218" cy="100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student receives questions and feedback tailored to their unique performance profile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6981" y="1643839"/>
            <a:ext cx="2602944" cy="2051209"/>
          </a:xfrm>
          <a:prstGeom prst="roundRect">
            <a:avLst>
              <a:gd name="adj" fmla="val 5349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54121" y="1643839"/>
            <a:ext cx="91440" cy="2051209"/>
          </a:xfrm>
          <a:prstGeom prst="roundRect">
            <a:avLst>
              <a:gd name="adj" fmla="val 297422"/>
            </a:avLst>
          </a:prstGeom>
          <a:solidFill>
            <a:srgbClr val="29DDDA"/>
          </a:solidFill>
          <a:ln/>
        </p:spPr>
      </p:sp>
      <p:sp>
        <p:nvSpPr>
          <p:cNvPr id="9" name="Text 7"/>
          <p:cNvSpPr/>
          <p:nvPr/>
        </p:nvSpPr>
        <p:spPr>
          <a:xfrm>
            <a:off x="3749634" y="1847912"/>
            <a:ext cx="2126218" cy="503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✅</a:t>
            </a: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Instant AI Feedback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749634" y="2484658"/>
            <a:ext cx="2126218" cy="100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waiting — evaluation and coaching are delivered immediately after each response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27541" y="1621390"/>
            <a:ext cx="2602944" cy="2051209"/>
          </a:xfrm>
          <a:prstGeom prst="roundRect">
            <a:avLst>
              <a:gd name="adj" fmla="val 5349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0524" y="1658290"/>
            <a:ext cx="91440" cy="2051209"/>
          </a:xfrm>
          <a:prstGeom prst="roundRect">
            <a:avLst>
              <a:gd name="adj" fmla="val 297422"/>
            </a:avLst>
          </a:prstGeom>
          <a:solidFill>
            <a:srgbClr val="37A7E7"/>
          </a:solidFill>
          <a:ln/>
        </p:spPr>
      </p:sp>
      <p:sp>
        <p:nvSpPr>
          <p:cNvPr id="13" name="Text 11"/>
          <p:cNvSpPr/>
          <p:nvPr/>
        </p:nvSpPr>
        <p:spPr>
          <a:xfrm>
            <a:off x="6599257" y="1867871"/>
            <a:ext cx="2126218" cy="503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✅</a:t>
            </a: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Interview Readiness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05032" y="2280585"/>
            <a:ext cx="2126218" cy="100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Role-specific simulation bridges the gap between academic knowledge and job-market expectations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99422" y="4320352"/>
            <a:ext cx="2287191" cy="1896174"/>
          </a:xfrm>
          <a:prstGeom prst="roundRect">
            <a:avLst>
              <a:gd name="adj" fmla="val 5349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09123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6562" y="4320352"/>
            <a:ext cx="80348" cy="1896174"/>
          </a:xfrm>
          <a:prstGeom prst="roundRect">
            <a:avLst>
              <a:gd name="adj" fmla="val 297422"/>
            </a:avLst>
          </a:prstGeom>
          <a:solidFill>
            <a:srgbClr val="091231"/>
          </a:solidFill>
          <a:ln/>
        </p:spPr>
      </p:sp>
      <p:sp>
        <p:nvSpPr>
          <p:cNvPr id="17" name="Text 15"/>
          <p:cNvSpPr/>
          <p:nvPr/>
        </p:nvSpPr>
        <p:spPr>
          <a:xfrm>
            <a:off x="4672075" y="4524425"/>
            <a:ext cx="1770162" cy="232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⚠️</a:t>
            </a: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API Dependency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72075" y="4909354"/>
            <a:ext cx="1868295" cy="69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System availability depends on third-party AI API uptime and rate limits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93494" y="4417133"/>
            <a:ext cx="2602944" cy="1799392"/>
          </a:xfrm>
          <a:prstGeom prst="roundRect">
            <a:avLst>
              <a:gd name="adj" fmla="val 6098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70634" y="4417133"/>
            <a:ext cx="91440" cy="1799392"/>
          </a:xfrm>
          <a:prstGeom prst="roundRect">
            <a:avLst>
              <a:gd name="adj" fmla="val 297422"/>
            </a:avLst>
          </a:prstGeom>
          <a:solidFill>
            <a:srgbClr val="16FFBB"/>
          </a:solidFill>
          <a:ln/>
        </p:spPr>
      </p:sp>
      <p:sp>
        <p:nvSpPr>
          <p:cNvPr id="21" name="Text 19"/>
          <p:cNvSpPr/>
          <p:nvPr/>
        </p:nvSpPr>
        <p:spPr>
          <a:xfrm>
            <a:off x="1766147" y="4621206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⚠️</a:t>
            </a: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Model Accuracy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766147" y="5006135"/>
            <a:ext cx="2126218" cy="100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Evaluation quality is bounded by the underlying LLM's capabilities and prompt sensitivity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405333" y="2265227"/>
            <a:ext cx="4782437" cy="4303811"/>
          </a:xfrm>
          <a:prstGeom prst="roundRect">
            <a:avLst>
              <a:gd name="adj" fmla="val 7770"/>
            </a:avLst>
          </a:prstGeom>
          <a:solidFill>
            <a:srgbClr val="091231">
              <a:alpha val="7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9755749" y="2479922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🚀</a:t>
            </a:r>
            <a:r>
              <a:rPr lang="en-US" sz="1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Future Scope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692607" y="2986772"/>
            <a:ext cx="407908" cy="407908"/>
          </a:xfrm>
          <a:prstGeom prst="roundRect">
            <a:avLst>
              <a:gd name="adj" fmla="val 66673"/>
            </a:avLst>
          </a:prstGeom>
          <a:solidFill>
            <a:srgbClr val="091231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4283" y="3064817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 Authentication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0180313" y="3394680"/>
            <a:ext cx="4696539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Secure login system with individual progress </a:t>
            </a:r>
          </a:p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tracking across sessions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92607" y="3992728"/>
            <a:ext cx="407908" cy="407908"/>
          </a:xfrm>
          <a:prstGeom prst="roundRect">
            <a:avLst>
              <a:gd name="adj" fmla="val 66673"/>
            </a:avLst>
          </a:prstGeom>
          <a:solidFill>
            <a:srgbClr val="091231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81750" y="4148819"/>
            <a:ext cx="2242661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Voice-Based Interviews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0180312" y="4519460"/>
            <a:ext cx="4696539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Speech-to-text integration enabling fully spoken </a:t>
            </a:r>
          </a:p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interview simulations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745674" y="5195492"/>
            <a:ext cx="407908" cy="407908"/>
          </a:xfrm>
          <a:prstGeom prst="roundRect">
            <a:avLst>
              <a:gd name="adj" fmla="val 66673"/>
            </a:avLst>
          </a:prstGeom>
          <a:solidFill>
            <a:srgbClr val="091231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1750" y="5305808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Adaptive Difficulty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0152693" y="5638798"/>
            <a:ext cx="4696539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Dynamic question difficulty that automatically</a:t>
            </a:r>
          </a:p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adjusts based on real-time student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F4DE7C-8BD0-A9FF-03C2-F165C65633E4}"/>
              </a:ext>
            </a:extLst>
          </p:cNvPr>
          <p:cNvSpPr txBox="1"/>
          <p:nvPr/>
        </p:nvSpPr>
        <p:spPr>
          <a:xfrm>
            <a:off x="1170878" y="2691227"/>
            <a:ext cx="7315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project bridges the gap between learning and evaluation by combining AI-powered quiz generation, intelligent assessment, and interview simulation.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It provides a complete ecosystem for practice, feedback, and improvement, demonstrating how modern AI tools can revolutionize education and skill development.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21190A-2CB1-FDD7-0C8F-024CA31D703C}"/>
              </a:ext>
            </a:extLst>
          </p:cNvPr>
          <p:cNvSpPr txBox="1"/>
          <p:nvPr/>
        </p:nvSpPr>
        <p:spPr>
          <a:xfrm>
            <a:off x="1170878" y="1348956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</a:rPr>
              <a:t>Conclusion</a:t>
            </a:r>
            <a:endParaRPr lang="en-US" sz="4300" dirty="0"/>
          </a:p>
        </p:txBody>
      </p:sp>
    </p:spTree>
    <p:extLst>
      <p:ext uri="{BB962C8B-B14F-4D97-AF65-F5344CB8AC3E}">
        <p14:creationId xmlns:p14="http://schemas.microsoft.com/office/powerpoint/2010/main" val="4287471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54256F-EACD-A4D4-3303-2D659552C40A}"/>
              </a:ext>
            </a:extLst>
          </p:cNvPr>
          <p:cNvSpPr txBox="1"/>
          <p:nvPr/>
        </p:nvSpPr>
        <p:spPr>
          <a:xfrm>
            <a:off x="4594303" y="4114799"/>
            <a:ext cx="7315200" cy="8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9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692897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584</Words>
  <Application>Microsoft Office PowerPoint</Application>
  <PresentationFormat>Custom</PresentationFormat>
  <Paragraphs>95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Barlow</vt:lpstr>
      <vt:lpstr>Spline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Yatin Berry</dc:creator>
  <cp:lastModifiedBy>Yatin Berry</cp:lastModifiedBy>
  <cp:revision>2</cp:revision>
  <dcterms:created xsi:type="dcterms:W3CDTF">2026-04-20T01:14:48Z</dcterms:created>
  <dcterms:modified xsi:type="dcterms:W3CDTF">2026-04-23T03:48:35Z</dcterms:modified>
</cp:coreProperties>
</file>